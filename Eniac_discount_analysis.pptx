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jiliYYMuvGLE9ul+J+mpKKXW0H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Robert Landwirt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Revenue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bubble3D val="0"/>
            <c:spPr>
              <a:solidFill>
                <a:srgbClr val="4FC3A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Discounted (96.6%)</c:v>
                </c:pt>
                <c:pt idx="1">
                  <c:v>Full Price (3.4%)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96.6</c:v>
                </c:pt>
                <c:pt idx="1">
                  <c:v>3.4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4T14:36:51.957">
    <p:pos x="6000" y="0"/>
    <p:text>This slide shows: we offer sales throughout the year but we never really spike in revenue unless on the holidays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5oQNsi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04T14:37:04.880">
    <p:pos x="6000" y="0"/>
    <p:text>this slide investigates the holidays week by week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5oQNsi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d81c6cdc_1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dbd81c6cdc_1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dbd81c6cdc_1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d81c6cdc_1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bd81c6cdc_1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dbd81c6cdc_1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bd81c6cdc_1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bd81c6cdc_1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dbd81c6cdc_1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bd81c6cdc_1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bd81c6cdc_1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dbd81c6cdc_1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bd81c6cdc_1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bd81c6cdc_1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dbd81c6cdc_1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6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ENIAC E-COMMERCE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914400"/>
            <a:ext cx="6400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 Discounts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Beneficial?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29260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Data Analysis · Jan 2017 – Mar 2018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37033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78,729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42062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Orders Analysed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0400" y="37033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€20.2M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0" y="42062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35040" y="37033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5,836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035040" y="42062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Unique Products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Dana  ·  Robert  ·  Enayatul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MANY PRODUCTS ARE DISCOUNTED?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1188720"/>
            <a:ext cx="3840480" cy="256032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150876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97.4%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25146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products sold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28346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a discount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32461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5,682 of 5,836 SKUs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480560" y="118872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480560" y="1188720"/>
            <a:ext cx="73152" cy="566928"/>
          </a:xfrm>
          <a:prstGeom prst="rect">
            <a:avLst/>
          </a:prstGeom>
          <a:solidFill>
            <a:srgbClr val="4FC3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663440" y="12618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 – 10% 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132320" y="126187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A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A1"/>
                </a:solidFill>
                <a:latin typeface="Calibri"/>
                <a:ea typeface="Calibri"/>
                <a:cs typeface="Calibri"/>
                <a:sym typeface="Calibri"/>
              </a:rPr>
              <a:t>28.80%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663440" y="149961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of discounted order items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480560" y="184708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480560" y="1847088"/>
            <a:ext cx="73152" cy="56692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63440" y="19202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11 – 33% 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32320" y="19202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53.89%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663440" y="215798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of discounted order items</a:t>
            </a:r>
            <a:endParaRPr b="0" i="0" sz="9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480560" y="250545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480560" y="2505456"/>
            <a:ext cx="73152" cy="566928"/>
          </a:xfrm>
          <a:prstGeom prst="rect">
            <a:avLst/>
          </a:prstGeom>
          <a:solidFill>
            <a:srgbClr val="E07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663440" y="25786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34 – 50% 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132320" y="25786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7C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7C3C"/>
                </a:solidFill>
                <a:latin typeface="Calibri"/>
                <a:ea typeface="Calibri"/>
                <a:cs typeface="Calibri"/>
                <a:sym typeface="Calibri"/>
              </a:rPr>
              <a:t>9.73%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63440" y="2816352"/>
            <a:ext cx="3108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of discounted order items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480560" y="316382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480560" y="3163824"/>
            <a:ext cx="73152" cy="566928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663440" y="323697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51%+ 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132320" y="323697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7.58%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663440" y="347472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of discounted order items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FF8E6"/>
          </a:solidFill>
          <a:ln cap="flat" cmpd="sng" w="19050">
            <a:solidFill>
              <a:srgbClr val="E8C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" y="42519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Eniac is functionally a discount-first retailer — only 4.5% of orders are sold at full price.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DISCOUNT SIZE &amp; REVENUE 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65760" y="114300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65760" y="1143000"/>
            <a:ext cx="2606040" cy="64008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126187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21.5%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192024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Avg Discount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21762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across all discounted sales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0" y="114300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00400" y="1143000"/>
            <a:ext cx="2606040" cy="64008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200400" y="126187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96.6%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200400" y="192024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Revenue Discounted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00400" y="21762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€19.5M of €20.2M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035040" y="114300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035040" y="1143000"/>
            <a:ext cx="2606040" cy="64008"/>
          </a:xfrm>
          <a:prstGeom prst="rect">
            <a:avLst/>
          </a:prstGeom>
          <a:solidFill>
            <a:srgbClr val="4FC3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035040" y="126187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A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FC3A1"/>
                </a:solidFill>
                <a:latin typeface="Calibri"/>
                <a:ea typeface="Calibri"/>
                <a:cs typeface="Calibri"/>
                <a:sym typeface="Calibri"/>
              </a:rPr>
              <a:t>3.4%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035040" y="192024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Full-Price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035040" y="21762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Only €678K at full price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3"/>
          <p:cNvGraphicFramePr/>
          <p:nvPr/>
        </p:nvGraphicFramePr>
        <p:xfrm>
          <a:off x="274320" y="2788920"/>
          <a:ext cx="4114800" cy="2057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4" name="Google Shape;84;p3"/>
          <p:cNvSpPr/>
          <p:nvPr/>
        </p:nvSpPr>
        <p:spPr>
          <a:xfrm>
            <a:off x="4572000" y="2788920"/>
            <a:ext cx="4206240" cy="96012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09160" y="28346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Board's Concern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709160" y="309067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Aggressive discounting erodes margin. Orders rose but revenue per order fell.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0" y="3840480"/>
            <a:ext cx="4206240" cy="960120"/>
          </a:xfrm>
          <a:prstGeom prst="rect">
            <a:avLst/>
          </a:prstGeom>
          <a:solidFill>
            <a:srgbClr val="F0FFF8"/>
          </a:solidFill>
          <a:ln cap="flat" cmpd="sng" w="12700">
            <a:solidFill>
              <a:srgbClr val="4FC3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709160" y="38862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A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A1"/>
                </a:solidFill>
                <a:latin typeface="Calibri"/>
                <a:ea typeface="Calibri"/>
                <a:cs typeface="Calibri"/>
                <a:sym typeface="Calibri"/>
              </a:rPr>
              <a:t>Marketing's 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709160" y="414223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Discounts drive acquisition &amp; retention, building long-term customer base.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Revenue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" y="1065468"/>
            <a:ext cx="9144000" cy="385627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 txBox="1"/>
          <p:nvPr/>
        </p:nvSpPr>
        <p:spPr>
          <a:xfrm>
            <a:off x="4942100" y="1468875"/>
            <a:ext cx="12084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Black Friday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 rot="1871759">
            <a:off x="5905421" y="1881573"/>
            <a:ext cx="456979" cy="23569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2527300" y="2634500"/>
            <a:ext cx="12084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Prime Day?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 rot="1871759">
            <a:off x="3602346" y="3047198"/>
            <a:ext cx="456979" cy="23569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d81c6cdc_1_49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dbd81c6cdc_1_49"/>
          <p:cNvSpPr/>
          <p:nvPr/>
        </p:nvSpPr>
        <p:spPr>
          <a:xfrm>
            <a:off x="365760" y="25603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SEASONALITY: BLACK FRIDAY &amp; CHRISTMAS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bd81c6cdc_1_49"/>
          <p:cNvSpPr/>
          <p:nvPr/>
        </p:nvSpPr>
        <p:spPr>
          <a:xfrm>
            <a:off x="274320" y="3794760"/>
            <a:ext cx="2788800" cy="1097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bd81c6cdc_1_49"/>
          <p:cNvSpPr/>
          <p:nvPr/>
        </p:nvSpPr>
        <p:spPr>
          <a:xfrm>
            <a:off x="365760" y="3840480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Black Friday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dbd81c6cdc_1_49"/>
          <p:cNvSpPr/>
          <p:nvPr/>
        </p:nvSpPr>
        <p:spPr>
          <a:xfrm>
            <a:off x="365760" y="4133088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Orders: 5,444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bd81c6cdc_1_49"/>
          <p:cNvSpPr/>
          <p:nvPr/>
        </p:nvSpPr>
        <p:spPr>
          <a:xfrm>
            <a:off x="365760" y="4334256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Revenue: €1,775,453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bd81c6cdc_1_49"/>
          <p:cNvSpPr/>
          <p:nvPr/>
        </p:nvSpPr>
        <p:spPr>
          <a:xfrm>
            <a:off x="365760" y="4535424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6.73x vs prior week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dbd81c6cdc_1_49"/>
          <p:cNvSpPr/>
          <p:nvPr/>
        </p:nvSpPr>
        <p:spPr>
          <a:xfrm>
            <a:off x="3246120" y="3794760"/>
            <a:ext cx="2788800" cy="1097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dbd81c6cdc_1_49"/>
          <p:cNvSpPr/>
          <p:nvPr/>
        </p:nvSpPr>
        <p:spPr>
          <a:xfrm>
            <a:off x="3337560" y="3840480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Christmas (Dec 18-31)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dbd81c6cdc_1_49"/>
          <p:cNvSpPr/>
          <p:nvPr/>
        </p:nvSpPr>
        <p:spPr>
          <a:xfrm>
            <a:off x="3337560" y="4133088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Orders: 5,037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bd81c6cdc_1_49"/>
          <p:cNvSpPr/>
          <p:nvPr/>
        </p:nvSpPr>
        <p:spPr>
          <a:xfrm>
            <a:off x="3337560" y="4334256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Revenue: €1,431,025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dbd81c6cdc_1_49"/>
          <p:cNvSpPr/>
          <p:nvPr/>
        </p:nvSpPr>
        <p:spPr>
          <a:xfrm>
            <a:off x="3337560" y="4535424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1.57x vs Dec 1-17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bd81c6cdc_1_49"/>
          <p:cNvSpPr/>
          <p:nvPr/>
        </p:nvSpPr>
        <p:spPr>
          <a:xfrm>
            <a:off x="6217920" y="3794760"/>
            <a:ext cx="2788800" cy="10974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dbd81c6cdc_1_49"/>
          <p:cNvSpPr/>
          <p:nvPr/>
        </p:nvSpPr>
        <p:spPr>
          <a:xfrm>
            <a:off x="6309360" y="3840480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A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A1"/>
                </a:solidFill>
                <a:latin typeface="Calibri"/>
                <a:ea typeface="Calibri"/>
                <a:cs typeface="Calibri"/>
                <a:sym typeface="Calibri"/>
              </a:rPr>
              <a:t>Post-Xmas (Jan 2018)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bd81c6cdc_1_49"/>
          <p:cNvSpPr/>
          <p:nvPr/>
        </p:nvSpPr>
        <p:spPr>
          <a:xfrm>
            <a:off x="6309360" y="4133088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Orders: 7,460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dbd81c6cdc_1_49"/>
          <p:cNvSpPr/>
          <p:nvPr/>
        </p:nvSpPr>
        <p:spPr>
          <a:xfrm>
            <a:off x="6309360" y="4334256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Revenue: €2,187,735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bd81c6cdc_1_49"/>
          <p:cNvSpPr/>
          <p:nvPr/>
        </p:nvSpPr>
        <p:spPr>
          <a:xfrm>
            <a:off x="6309360" y="4535424"/>
            <a:ext cx="265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A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FC3A1"/>
                </a:solidFill>
                <a:latin typeface="Calibri"/>
                <a:ea typeface="Calibri"/>
                <a:cs typeface="Calibri"/>
                <a:sym typeface="Calibri"/>
              </a:rPr>
              <a:t>Gift card redemptions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g3dbd81c6cdc_1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7700" y="1098113"/>
            <a:ext cx="5248588" cy="26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bd81c6cdc_1_8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dbd81c6cdc_1_82"/>
          <p:cNvSpPr/>
          <p:nvPr/>
        </p:nvSpPr>
        <p:spPr>
          <a:xfrm>
            <a:off x="365760" y="25603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Driving Products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dbd81c6cdc_1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813" y="1126175"/>
            <a:ext cx="6593527" cy="383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g3dbd81c6cdc_1_82"/>
          <p:cNvCxnSpPr/>
          <p:nvPr/>
        </p:nvCxnSpPr>
        <p:spPr>
          <a:xfrm flipH="1">
            <a:off x="2066050" y="2365700"/>
            <a:ext cx="28152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g3dbd81c6cdc_1_82"/>
          <p:cNvCxnSpPr/>
          <p:nvPr/>
        </p:nvCxnSpPr>
        <p:spPr>
          <a:xfrm flipH="1">
            <a:off x="2076375" y="2210475"/>
            <a:ext cx="300" cy="16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g3dbd81c6cdc_1_82"/>
          <p:cNvCxnSpPr/>
          <p:nvPr/>
        </p:nvCxnSpPr>
        <p:spPr>
          <a:xfrm flipH="1">
            <a:off x="4886550" y="2215825"/>
            <a:ext cx="5400" cy="16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g3dbd81c6cdc_1_82"/>
          <p:cNvSpPr txBox="1"/>
          <p:nvPr/>
        </p:nvSpPr>
        <p:spPr>
          <a:xfrm>
            <a:off x="3243450" y="2365700"/>
            <a:ext cx="33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amount of low discount sales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bd81c6cdc_1_10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dbd81c6cdc_1_100"/>
          <p:cNvSpPr/>
          <p:nvPr/>
        </p:nvSpPr>
        <p:spPr>
          <a:xfrm>
            <a:off x="365760" y="25603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Smartphone Sales During the Year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dbd81c6cdc_1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04275"/>
            <a:ext cx="9143999" cy="387847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dbd81c6cdc_1_100"/>
          <p:cNvSpPr txBox="1"/>
          <p:nvPr/>
        </p:nvSpPr>
        <p:spPr>
          <a:xfrm>
            <a:off x="1231100" y="1933025"/>
            <a:ext cx="41586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sold a lot of Smartphones during Black Friday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discounting them further!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d81c6cdc_1_136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bd81c6cdc_1_136"/>
          <p:cNvSpPr/>
          <p:nvPr/>
        </p:nvSpPr>
        <p:spPr>
          <a:xfrm>
            <a:off x="365760" y="25603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Smartphone Revenue Divided by Discount 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g3dbd81c6cdc_1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38" y="1005900"/>
            <a:ext cx="9110626" cy="386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60" y="27432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CONCLUSION &amp; 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Should Eniac Keep Discounting?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02920" y="1389888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VERDICT: Discount strategically — not universally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2103120"/>
            <a:ext cx="4023360" cy="11704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5760" y="2103120"/>
            <a:ext cx="73152" cy="117043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30352" y="2194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5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C547"/>
                </a:solidFill>
                <a:latin typeface="Calibri"/>
                <a:ea typeface="Calibri"/>
                <a:cs typeface="Calibri"/>
                <a:sym typeface="Calibri"/>
              </a:rPr>
              <a:t>01  Events push sales irrespective of discounts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30352" y="248716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Black Friday and Christmas increase revenue by 3-6x without changing pricing structure.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663440" y="2103120"/>
            <a:ext cx="4023360" cy="11704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663440" y="2103120"/>
            <a:ext cx="73152" cy="1170432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828032" y="2194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02  Create sales with Event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828032" y="248716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There might be room for a second sale in the summer. Marketing should drive a potential sale as community event (vs. driven majorly by pricing).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65760" y="3429000"/>
            <a:ext cx="4023360" cy="11704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65760" y="3429000"/>
            <a:ext cx="73152" cy="1170432"/>
          </a:xfrm>
          <a:prstGeom prst="rect">
            <a:avLst/>
          </a:prstGeom>
          <a:solidFill>
            <a:srgbClr val="4FC3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30352" y="35204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A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A1"/>
                </a:solidFill>
                <a:latin typeface="Calibri"/>
                <a:ea typeface="Calibri"/>
                <a:cs typeface="Calibri"/>
                <a:sym typeface="Calibri"/>
              </a:rPr>
              <a:t>03  Are permanent discounts a good idea?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30352" y="381304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97.4% of products are discounted — this is the default, not a strategy. This should only be retained, if it serves a particular purpose.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663440" y="3429000"/>
            <a:ext cx="4023360" cy="11704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663440" y="3429000"/>
            <a:ext cx="73152" cy="1170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828032" y="35204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04  Fix Data Collection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828032" y="3813048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Corrupted prices, duplicate SKUs, and missing brand data undermine analysis. Solid assertions can only be made under availability of profit margins.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bd81c6cdc_1_145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dbd81c6cdc_1_145"/>
          <p:cNvSpPr txBox="1"/>
          <p:nvPr/>
        </p:nvSpPr>
        <p:spPr>
          <a:xfrm>
            <a:off x="1193550" y="1482575"/>
            <a:ext cx="66153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 for your attention!</a:t>
            </a:r>
            <a:endParaRPr b="1" i="0" sz="4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2026-05-02T06:51:43Z</dcterms:created>
  <dc:creator>PptxGenJS</dc:creator>
</cp:coreProperties>
</file>